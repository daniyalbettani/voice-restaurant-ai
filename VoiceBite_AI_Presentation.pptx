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8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FFFFFF"/>
                </a:solidFill>
              </a:rPr>
              <a:t>🍽️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97316"/>
                </a:solidFill>
              </a:rPr>
              <a:t>VoiceBite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1031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Multilingual AI-Powered Restaurant Ordering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2743200"/>
            <a:ext cx="96012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94560" y="2880360"/>
            <a:ext cx="9601200" cy="1645920"/>
          </a:xfrm>
          <a:prstGeom prst="rect">
            <a:avLst/>
          </a:prstGeom>
          <a:solidFill>
            <a:srgbClr val="1A1A2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77440" y="3017520"/>
            <a:ext cx="923544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 dirty="0">
                <a:solidFill>
                  <a:srgbClr val="F97316"/>
                </a:solidFill>
              </a:rPr>
              <a:t>👨‍💻  Project Members:  </a:t>
            </a:r>
            <a:r>
              <a:rPr sz="1300" dirty="0">
                <a:solidFill>
                  <a:srgbClr val="A1A1AA"/>
                </a:solidFill>
              </a:rPr>
              <a:t>Daniyal </a:t>
            </a:r>
            <a:r>
              <a:rPr lang="en-US" sz="1300" dirty="0">
                <a:solidFill>
                  <a:srgbClr val="A1A1AA"/>
                </a:solidFill>
              </a:rPr>
              <a:t>Aziz</a:t>
            </a:r>
            <a:r>
              <a:rPr sz="1300" dirty="0">
                <a:solidFill>
                  <a:srgbClr val="A1A1AA"/>
                </a:solidFill>
              </a:rPr>
              <a:t>  ·  [</a:t>
            </a:r>
            <a:r>
              <a:rPr lang="en-US" sz="1300" dirty="0">
                <a:solidFill>
                  <a:srgbClr val="A1A1AA"/>
                </a:solidFill>
              </a:rPr>
              <a:t>Muhammad Sufyan Sadazoi</a:t>
            </a:r>
            <a:r>
              <a:rPr sz="1300" dirty="0">
                <a:solidFill>
                  <a:srgbClr val="A1A1AA"/>
                </a:solidFill>
              </a:rPr>
              <a:t>]</a:t>
            </a:r>
          </a:p>
          <a:p>
            <a:pPr>
              <a:spcBef>
                <a:spcPts val="400"/>
              </a:spcBef>
            </a:pPr>
            <a:r>
              <a:rPr sz="1300" b="1" dirty="0">
                <a:solidFill>
                  <a:srgbClr val="F97316"/>
                </a:solidFill>
              </a:rPr>
              <a:t>🎓  Department:  </a:t>
            </a:r>
            <a:r>
              <a:rPr sz="1300" dirty="0">
                <a:solidFill>
                  <a:srgbClr val="A1A1AA"/>
                </a:solidFill>
              </a:rPr>
              <a:t>Computer Science — Final Year Project</a:t>
            </a:r>
          </a:p>
          <a:p>
            <a:pPr>
              <a:spcBef>
                <a:spcPts val="400"/>
              </a:spcBef>
            </a:pPr>
            <a:r>
              <a:rPr sz="1300" b="1" dirty="0">
                <a:solidFill>
                  <a:srgbClr val="F97316"/>
                </a:solidFill>
              </a:rPr>
              <a:t>🏫  Supervisor:  </a:t>
            </a:r>
            <a:r>
              <a:rPr sz="1300" dirty="0">
                <a:solidFill>
                  <a:srgbClr val="A1A1AA"/>
                </a:solidFill>
              </a:rPr>
              <a:t>[</a:t>
            </a:r>
            <a:r>
              <a:rPr lang="en-US" sz="1300" dirty="0">
                <a:solidFill>
                  <a:srgbClr val="A1A1AA"/>
                </a:solidFill>
              </a:rPr>
              <a:t>Umair Younus</a:t>
            </a:r>
            <a:r>
              <a:rPr sz="1300" dirty="0">
                <a:solidFill>
                  <a:srgbClr val="A1A1AA"/>
                </a:solidFill>
              </a:rPr>
              <a:t>]</a:t>
            </a:r>
          </a:p>
          <a:p>
            <a:pPr>
              <a:spcBef>
                <a:spcPts val="400"/>
              </a:spcBef>
            </a:pPr>
            <a:r>
              <a:rPr sz="1300" b="1" dirty="0">
                <a:solidFill>
                  <a:srgbClr val="F97316"/>
                </a:solidFill>
              </a:rPr>
              <a:t>📅  Year:  </a:t>
            </a:r>
            <a:r>
              <a:rPr sz="1300" dirty="0">
                <a:solidFill>
                  <a:srgbClr val="A1A1AA"/>
                </a:solidFill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1A1AA"/>
                </a:solidFill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228600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01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0972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577840" cy="1920240"/>
          </a:xfrm>
          <a:prstGeom prst="rect">
            <a:avLst/>
          </a:prstGeom>
          <a:solidFill>
            <a:srgbClr val="1A1A2E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70992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37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7316"/>
                </a:solidFill>
              </a:rPr>
              <a:t>Slow Ordering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1945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Traditional pen-and-paper or counter-based ordering leads to long queues and customer frustration.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00200"/>
            <a:ext cx="5577840" cy="1920240"/>
          </a:xfrm>
          <a:prstGeom prst="rect">
            <a:avLst/>
          </a:prstGeom>
          <a:solidFill>
            <a:srgbClr val="1A1A2E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70992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🗣️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737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7316"/>
                </a:solidFill>
              </a:rPr>
              <a:t>Language Barrier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1945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Waiters and customers often speak different languages — Urdu, Punjabi, English — causing errors.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94760"/>
            <a:ext cx="5577840" cy="1920240"/>
          </a:xfrm>
          <a:prstGeom prst="rect">
            <a:avLst/>
          </a:prstGeom>
          <a:solidFill>
            <a:srgbClr val="1A1A2E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90448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931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7316"/>
                </a:solidFill>
              </a:rPr>
              <a:t>No Real-Time 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3891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Kitchens have no live view of incoming orders; staff must physically relay tickets.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794760"/>
            <a:ext cx="5577840" cy="1920240"/>
          </a:xfrm>
          <a:prstGeom prst="rect">
            <a:avLst/>
          </a:prstGeom>
          <a:solidFill>
            <a:srgbClr val="1A1A2E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90448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931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7316"/>
                </a:solidFill>
              </a:rPr>
              <a:t>No Order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3891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Customers can't track, modify, or confirm their orders after placement.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309360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1A1AA"/>
                </a:solidFill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228600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02 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Proposed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0972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3657600" cy="2103120"/>
          </a:xfrm>
          <a:prstGeom prst="rect">
            <a:avLst/>
          </a:prstGeom>
          <a:solidFill>
            <a:srgbClr val="1A1A2E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7647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Voice Ordering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1A1AA"/>
                </a:solidFill>
              </a:rPr>
              <a:t>Speak in Urdu, English, or Hinglish — Gemini AI understands and parses your order automatically.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600200"/>
            <a:ext cx="3657600" cy="2103120"/>
          </a:xfrm>
          <a:prstGeom prst="rect">
            <a:avLst/>
          </a:prstGeom>
          <a:solidFill>
            <a:srgbClr val="1A1A2E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1737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59" y="17647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Real-Time Kitchen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1A1AA"/>
                </a:solidFill>
              </a:rPr>
              <a:t>Orders appear instantly on the Admin Dashboard via Socket.io — zero delay, zero missed tickets.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19" y="1600200"/>
            <a:ext cx="3657600" cy="2103120"/>
          </a:xfrm>
          <a:prstGeom prst="rect">
            <a:avLst/>
          </a:prstGeom>
          <a:solidFill>
            <a:srgbClr val="1A1A2E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199" y="1737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9" y="17647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Secure 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9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1A1AA"/>
                </a:solidFill>
              </a:rPr>
              <a:t>OTP email verification + JWT tokens with four roles: Customer, Staff, Sub-Admin, Super-Admin.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931920"/>
            <a:ext cx="3657600" cy="2103120"/>
          </a:xfrm>
          <a:prstGeom prst="rect">
            <a:avLst/>
          </a:prstGeom>
          <a:solidFill>
            <a:srgbClr val="1A1A2E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0690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4096511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Rich Menu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720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1A1AA"/>
                </a:solidFill>
              </a:rPr>
              <a:t>Cloudinary CDN delivers high-quality 800×800 food images auto-optimised to WebP format.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79" y="3931920"/>
            <a:ext cx="3657600" cy="2103120"/>
          </a:xfrm>
          <a:prstGeom prst="rect">
            <a:avLst/>
          </a:prstGeom>
          <a:solidFill>
            <a:srgbClr val="1A1A2E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59" y="40690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59" y="4096511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Order Lifecycle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45720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1A1AA"/>
                </a:solidFill>
              </a:rPr>
              <a:t>5-minute cancellation window + 'Final Confirm' lock gives customers and chefs full control.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19" y="3931920"/>
            <a:ext cx="3657600" cy="2103120"/>
          </a:xfrm>
          <a:prstGeom prst="rect">
            <a:avLst/>
          </a:prstGeom>
          <a:solidFill>
            <a:srgbClr val="1A1A2E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199" y="40690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99" y="4096511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Role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199" y="45720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1A1AA"/>
                </a:solidFill>
              </a:rPr>
              <a:t>Super Admin assigns roles to any user — turning a customer into staff or sub-admin instantly.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309360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1A1AA"/>
                </a:solidFill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228600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03 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0972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2743200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627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11680"/>
            <a:ext cx="274320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React 18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React Router v6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94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Socket.io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177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Custom CSS 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82696" y="1600200"/>
            <a:ext cx="274320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82696" y="1627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</a:rPr>
              <a:t>BACKEND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2696" y="2011680"/>
            <a:ext cx="274320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65576" y="21488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Node.js + Express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5576" y="29718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ES Modules (import/export)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5576" y="3794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Socket.io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5576" y="46177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Nodemailer (OTP)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5352" y="1600200"/>
            <a:ext cx="274320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45352" y="1627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</a:rPr>
              <a:t>DATABASE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2011680"/>
            <a:ext cx="274320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21488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MongoDB Atlas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29718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Mongoose ODM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3794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JWT Authentication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46177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bcryptjs Hashing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08008" y="1600200"/>
            <a:ext cx="2743200" cy="4114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08008" y="1627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</a:rPr>
              <a:t>SERVICES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08008" y="2011680"/>
            <a:ext cx="274320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90888" y="21488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Gemini 2.0 Flash (AI)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29718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Cloudinary CDN (Images)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90888" y="3794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Google DNS Override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0888" y="46177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 Multer File Upload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309360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1A1AA"/>
                </a:solidFill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228600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04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0972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2560320"/>
            <a:ext cx="2377440" cy="914400"/>
          </a:xfrm>
          <a:prstGeom prst="rect">
            <a:avLst/>
          </a:prstGeom>
          <a:solidFill>
            <a:srgbClr val="0A0A0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🖥️ Frontend
React + Vite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2560320"/>
            <a:ext cx="2377440" cy="914400"/>
          </a:xfrm>
          <a:prstGeom prst="rect">
            <a:avLst/>
          </a:prstGeom>
          <a:solidFill>
            <a:srgbClr val="0A0A0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7316"/>
                </a:solidFill>
              </a:rPr>
              <a:t>⚙️  Backend
Node.js + Express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4572000"/>
            <a:ext cx="2377440" cy="914400"/>
          </a:xfrm>
          <a:prstGeom prst="rect">
            <a:avLst/>
          </a:prstGeom>
          <a:solidFill>
            <a:srgbClr val="0A0A0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46634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🍃 MongoDB Atlas
Database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1554480"/>
            <a:ext cx="2743200" cy="914400"/>
          </a:xfrm>
          <a:prstGeom prst="rect">
            <a:avLst/>
          </a:prstGeom>
          <a:solidFill>
            <a:srgbClr val="0A0A0F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16459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</a:rPr>
              <a:t>🤖 Gemini AI
Voice Parser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2834640"/>
            <a:ext cx="2743200" cy="914400"/>
          </a:xfrm>
          <a:prstGeom prst="rect">
            <a:avLst/>
          </a:prstGeom>
          <a:solidFill>
            <a:srgbClr val="0A0A0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0" y="29260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☁️  Cloudinary
Image CDN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4114800"/>
            <a:ext cx="2743200" cy="914400"/>
          </a:xfrm>
          <a:prstGeom prst="rect">
            <a:avLst/>
          </a:prstGeom>
          <a:solidFill>
            <a:srgbClr val="0A0A0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52560" y="42062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7316"/>
                </a:solidFill>
              </a:rPr>
              <a:t>📧 Nodemailer
OTP Emails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788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1A1AA"/>
                </a:solidFill>
              </a:rPr>
              <a:t>REST API
+ Socket.io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74903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1A1AA"/>
                </a:solidFill>
              </a:rPr>
              <a:t>Mongoose
ODM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1828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1A1AA"/>
                </a:solidFill>
              </a:rPr>
              <a:t>API calls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2971800"/>
            <a:ext cx="214884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80760" y="3474720"/>
            <a:ext cx="45720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69480" y="2057400"/>
            <a:ext cx="178308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69480" y="3246120"/>
            <a:ext cx="17830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69480" y="4526280"/>
            <a:ext cx="178308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6309360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1A1AA"/>
                </a:solidFill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228600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05 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Modular Backend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0972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303520" cy="4937760"/>
          </a:xfrm>
          <a:prstGeom prst="rect">
            <a:avLst/>
          </a:prstGeom>
          <a:solidFill>
            <a:srgbClr val="1A1A2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📁 backend/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49377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FFFFFF"/>
                </a:solidFill>
                <a:latin typeface="Courier New"/>
              </a:rPr>
              <a:t>├── 📄 server.js</a:t>
            </a:r>
            <a:r>
              <a:rPr sz="900">
                <a:solidFill>
                  <a:srgbClr val="52525B"/>
                </a:solidFill>
                <a:latin typeface="Courier New"/>
              </a:rPr>
              <a:t>  # Entry point — wires all modules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38BDF8"/>
                </a:solidFill>
                <a:latin typeface="Courier New"/>
              </a:rPr>
              <a:t>├── 📁 routes/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1A1AA"/>
                </a:solidFill>
                <a:latin typeface="Courier New"/>
              </a:rPr>
              <a:t>│   ├── auth.js</a:t>
            </a:r>
            <a:r>
              <a:rPr sz="900">
                <a:solidFill>
                  <a:srgbClr val="52525B"/>
                </a:solidFill>
                <a:latin typeface="Courier New"/>
              </a:rPr>
              <a:t>  # OTP, Login, Profile, Admin roles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1A1AA"/>
                </a:solidFill>
                <a:latin typeface="Courier New"/>
              </a:rPr>
              <a:t>│   ├── menu.js</a:t>
            </a:r>
            <a:r>
              <a:rPr sz="900">
                <a:solidFill>
                  <a:srgbClr val="52525B"/>
                </a:solidFill>
                <a:latin typeface="Courier New"/>
              </a:rPr>
              <a:t>  # Menu CRUD + Cloudinary seed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1A1AA"/>
                </a:solidFill>
                <a:latin typeface="Courier New"/>
              </a:rPr>
              <a:t>│   ├── orders.js</a:t>
            </a:r>
            <a:r>
              <a:rPr sz="900">
                <a:solidFill>
                  <a:srgbClr val="52525B"/>
                </a:solidFill>
                <a:latin typeface="Courier New"/>
              </a:rPr>
              <a:t>  # Order lifecycle, cancel, lock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1A1AA"/>
                </a:solidFill>
                <a:latin typeface="Courier New"/>
              </a:rPr>
              <a:t>│   └── ai.js</a:t>
            </a:r>
            <a:r>
              <a:rPr sz="900">
                <a:solidFill>
                  <a:srgbClr val="52525B"/>
                </a:solidFill>
                <a:latin typeface="Courier New"/>
              </a:rPr>
              <a:t>  # Gemini voice parsing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38BDF8"/>
                </a:solidFill>
                <a:latin typeface="Courier New"/>
              </a:rPr>
              <a:t>├── 📁 middlewares/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1A1AA"/>
                </a:solidFill>
                <a:latin typeface="Courier New"/>
              </a:rPr>
              <a:t>│   └── auth.js</a:t>
            </a:r>
            <a:r>
              <a:rPr sz="900">
                <a:solidFill>
                  <a:srgbClr val="52525B"/>
                </a:solidFill>
                <a:latin typeface="Courier New"/>
              </a:rPr>
              <a:t>  # JWT verify, role guards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38BDF8"/>
                </a:solidFill>
                <a:latin typeface="Courier New"/>
              </a:rPr>
              <a:t>├── 📁 models/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1A1AA"/>
                </a:solidFill>
                <a:latin typeface="Courier New"/>
              </a:rPr>
              <a:t>│   ├── User.js  Order.js Menu.js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38BDF8"/>
                </a:solidFill>
                <a:latin typeface="Courier New"/>
              </a:rPr>
              <a:t>├── 📁 utils/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1A1AA"/>
                </a:solidFill>
                <a:latin typeface="Courier New"/>
              </a:rPr>
              <a:t>│   ├── email.js</a:t>
            </a:r>
            <a:r>
              <a:rPr sz="900">
                <a:solidFill>
                  <a:srgbClr val="52525B"/>
                </a:solidFill>
                <a:latin typeface="Courier New"/>
              </a:rPr>
              <a:t>  # OTP email + Nodemailer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1A1AA"/>
                </a:solidFill>
                <a:latin typeface="Courier New"/>
              </a:rPr>
              <a:t>│   └── cloudinary.js</a:t>
            </a:r>
            <a:r>
              <a:rPr sz="900">
                <a:solidFill>
                  <a:srgbClr val="52525B"/>
                </a:solidFill>
                <a:latin typeface="Courier New"/>
              </a:rPr>
              <a:t>  # Image upload helpers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1A1AA"/>
                </a:solidFill>
                <a:latin typeface="Courier New"/>
              </a:rPr>
              <a:t>└── 📁 db/connect.js</a:t>
            </a:r>
            <a:r>
              <a:rPr sz="900">
                <a:solidFill>
                  <a:srgbClr val="52525B"/>
                </a:solidFill>
                <a:latin typeface="Courier New"/>
              </a:rPr>
              <a:t>  # MongoDB connection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600200"/>
            <a:ext cx="5943600" cy="4937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6916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⚡ Key Design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945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▸ ES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48716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All files use import/export — no require().
Future-proof and tree-shakeable.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06323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▸ DNS Override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355847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dns.setServers(['8.8.8.8']) before connectDB()
fixes MongoDB Atlas SRV on restrictive ISPs.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93192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▸ setIo()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22452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Socket.io injected via setIo() into orders.js
avoiding circular imports.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800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▸ Role Hierarchy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09320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super_admin &gt; sub_admin &gt; staff &gt; customer
Middleware enforces access at each layer.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66927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▸ 0.0.0.0 Binding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9618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Server listens on all interfaces — works from
both localhost and LAN IPs (192.168.x.x).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09360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1A1AA"/>
                </a:solidFill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228600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06  AI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AI Voice Ordering — Gemini 2.0 Flash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0972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377440" cy="914400"/>
          </a:xfrm>
          <a:prstGeom prst="rect">
            <a:avLst/>
          </a:prstGeom>
          <a:solidFill>
            <a:srgbClr val="1A1A2E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7316"/>
                </a:solidFill>
              </a:rPr>
              <a:t>🎙️ User
Speaks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874519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97316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600200"/>
            <a:ext cx="2377440" cy="914400"/>
          </a:xfrm>
          <a:prstGeom prst="rect">
            <a:avLst/>
          </a:prstGeom>
          <a:solidFill>
            <a:srgbClr val="1A1A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645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</a:rPr>
              <a:t>🔊 Web Speech
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874519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97316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00200"/>
            <a:ext cx="2377440" cy="914400"/>
          </a:xfrm>
          <a:prstGeom prst="rect">
            <a:avLst/>
          </a:prstGeom>
          <a:solidFill>
            <a:srgbClr val="1A1A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645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</a:rPr>
              <a:t>🤖 Gemini
AI Parses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874519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97316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600200"/>
            <a:ext cx="2377440" cy="914400"/>
          </a:xfrm>
          <a:prstGeom prst="rect">
            <a:avLst/>
          </a:prstGeom>
          <a:solidFill>
            <a:srgbClr val="1A1A2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0" y="1645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</a:rPr>
              <a:t>🛒 Order
Confirmed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43200"/>
            <a:ext cx="5303520" cy="3566160"/>
          </a:xfrm>
          <a:prstGeom prst="rect">
            <a:avLst/>
          </a:prstGeom>
          <a:solidFill>
            <a:srgbClr val="1A1A2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834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🌍  Languages Supported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▸ English: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337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</a:rPr>
              <a:t>"I want 2 burgers and a coke"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▸ Urdu Script: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38BDF8"/>
                </a:solidFill>
              </a:rPr>
              <a:t>"مجھے ایک پیزا چاہیے"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9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▸ Roman Urdu: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709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1A1AA"/>
                </a:solidFill>
              </a:rPr>
              <a:t>"mujhe do pizza aur ek biryani chahiye"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▸ Hinglish: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5394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BBF24"/>
                </a:solidFill>
              </a:rPr>
              <a:t>"bhai ek burger dena yaar"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743200"/>
            <a:ext cx="5943600" cy="3566160"/>
          </a:xfrm>
          <a:prstGeom prst="rect">
            <a:avLst/>
          </a:prstGeom>
          <a:solidFill>
            <a:srgbClr val="1A1A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26480" y="28346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📦  Gemini JSON 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3375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2C55E"/>
                </a:solidFill>
                <a:latin typeface="Courier New"/>
              </a:rPr>
              <a:t>{
  "intent": "order",
  "items": [
    { "name": "burger",  "quantity": 2 },
    { "name": "coke",    "quantity": 1 }
  ],
  "message": "Great choice! 2 burgers
              and 1 coke coming right up 🍔"
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309360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1A1AA"/>
                </a:solidFill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228600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07 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Authentication &amp; Role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0972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303520" cy="4937760"/>
          </a:xfrm>
          <a:prstGeom prst="rect">
            <a:avLst/>
          </a:prstGeom>
          <a:solidFill>
            <a:srgbClr val="1A1A2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🔐  OTP Registration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347472" cy="3474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585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 fills name, email, password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07208"/>
            <a:ext cx="347472" cy="3474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8072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2549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</a:rPr>
              <a:t>POST /api/auth/send-otp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74136"/>
            <a:ext cx="347472" cy="3474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3741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39242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6-digit OTP generated → emailed via Gmail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41064"/>
            <a:ext cx="347472" cy="3474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9410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5935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</a:rPr>
              <a:t>OTP stored in memory (10 min expiry)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07992"/>
            <a:ext cx="347472" cy="3474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5079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526279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BDF8"/>
                </a:solidFill>
              </a:rPr>
              <a:t>User submits OTP → POST /api/auth/verify-otp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74920"/>
            <a:ext cx="347472" cy="3474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0749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9320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Account created → JWT token returned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641848"/>
            <a:ext cx="347472" cy="3474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56418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F"/>
                </a:solidFill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66013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</a:rPr>
              <a:t>Super Admin email auto-gets super_admin role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1600200"/>
            <a:ext cx="5943600" cy="4937760"/>
          </a:xfrm>
          <a:prstGeom prst="rect">
            <a:avLst/>
          </a:prstGeom>
          <a:solidFill>
            <a:srgbClr val="1A1A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0" y="16916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👑  Role Hierarchy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240280"/>
            <a:ext cx="5029200" cy="822960"/>
          </a:xfrm>
          <a:prstGeom prst="rect">
            <a:avLst/>
          </a:prstGeom>
          <a:solidFill>
            <a:srgbClr val="1A1A2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0" y="2286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● super_admin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62432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Full access. Assigns roles.
bhittanidaniyal@gmail.com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264408"/>
            <a:ext cx="4572000" cy="822960"/>
          </a:xfrm>
          <a:prstGeom prst="rect">
            <a:avLst/>
          </a:prstGeom>
          <a:solidFill>
            <a:srgbClr val="1A1A2E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33101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● sub_admin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64845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Dashboard + orders. Cannot
manage user roles.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288536"/>
            <a:ext cx="4114800" cy="822960"/>
          </a:xfrm>
          <a:prstGeom prst="rect">
            <a:avLst/>
          </a:prstGeom>
          <a:solidFill>
            <a:srgbClr val="1A1A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29400" y="43342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● staff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67258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View kitchen orders,
update order status.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0840" y="5312664"/>
            <a:ext cx="3657600" cy="822960"/>
          </a:xfrm>
          <a:prstGeom prst="rect">
            <a:avLst/>
          </a:prstGeom>
          <a:solidFill>
            <a:srgbClr val="1A1A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58000" y="53583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● customer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6967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Browse menu, place voice
orders, track status.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309360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1A1AA"/>
                </a:solidFill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228600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08  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Order Lifecycle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0972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377440" cy="914400"/>
          </a:xfrm>
          <a:prstGeom prst="rect">
            <a:avLst/>
          </a:prstGeom>
          <a:solidFill>
            <a:srgbClr val="1A1A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</a:rPr>
              <a:t>PENDING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1A1AA"/>
                </a:solidFill>
              </a:rPr>
              <a:t>Order placed by 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874519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97316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600200"/>
            <a:ext cx="2377440" cy="914400"/>
          </a:xfrm>
          <a:prstGeom prst="rect">
            <a:avLst/>
          </a:prstGeom>
          <a:solidFill>
            <a:srgbClr val="1A1A2E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1645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7316"/>
                </a:solidFill>
              </a:rPr>
              <a:t>PREPARING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1031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1A1AA"/>
                </a:solidFill>
              </a:rPr>
              <a:t>Chef started cooking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874519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97316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600200"/>
            <a:ext cx="2377440" cy="914400"/>
          </a:xfrm>
          <a:prstGeom prst="rect">
            <a:avLst/>
          </a:prstGeom>
          <a:solidFill>
            <a:srgbClr val="1A1A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1645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1031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1A1AA"/>
                </a:solidFill>
              </a:rPr>
              <a:t>Order ready for pickup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1874519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97316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600200"/>
            <a:ext cx="2377440" cy="914400"/>
          </a:xfrm>
          <a:prstGeom prst="rect">
            <a:avLst/>
          </a:prstGeom>
          <a:solidFill>
            <a:srgbClr val="1A1A2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0" y="1645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1031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1A1AA"/>
                </a:solidFill>
              </a:rPr>
              <a:t>Order delivered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834640"/>
            <a:ext cx="5303520" cy="3566160"/>
          </a:xfrm>
          <a:prstGeom prst="rect">
            <a:avLst/>
          </a:prstGeom>
          <a:solidFill>
            <a:srgbClr val="1A1A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9260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⏱️  5-Minute Cancel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42900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After placing an order, customer has exactly 5 minutes to cancel.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5935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Backend checks: Date.now() - order.createdAt &lt; 5 × 60 × 1000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89704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After 5 minutes → cancellation is permanently blocked by the API.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20056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Admin dashboard shows live countdown timer per order.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55040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Chef can start cooking once the window expires.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834640"/>
            <a:ext cx="5943600" cy="3566160"/>
          </a:xfrm>
          <a:prstGeom prst="rect">
            <a:avLst/>
          </a:prstGeom>
          <a:solidFill>
            <a:srgbClr val="1A1A2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0" y="29260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🔒  Final Confirm (Lock) Feature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3429000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Customer can click 'Final Confirm' before the 5-min window ends.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59352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PATCH /api/orders/:id/lock sets locked: true in MongoDB.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489704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Locked orders skip the wait — chef starts immediately.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020056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Admin dashboard shows 🔒 gold badge for locked orders.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550408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Cancellation is permanently blocked for locked orders.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309360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1A1AA"/>
                </a:solidFill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228600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09  REAL-TIME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Real-Time Admin &amp; Kitchen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0972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1152144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⚡  Socket.io Event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1A1AA"/>
                </a:solidFill>
              </a:rPr>
              <a:t>Customer Places Order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2743200" cy="2926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F"/>
                </a:solidFill>
              </a:rPr>
              <a:t>io.emit("newOrder")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1A1AA"/>
                </a:solidFill>
              </a:rPr>
              <a:t>Status Changed by Staff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331720"/>
            <a:ext cx="2743200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23317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F"/>
                </a:solidFill>
              </a:rPr>
              <a:t>io.emit("orderUpdated")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1A1AA"/>
                </a:solidFill>
              </a:rPr>
              <a:t>Admin Deletes Order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331720"/>
            <a:ext cx="274320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23317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F"/>
                </a:solidFill>
              </a:rPr>
              <a:t>io.emit("orderDeleted")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1A1AA"/>
                </a:solidFill>
              </a:rPr>
              <a:t>Final Confirm Locked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2331720"/>
            <a:ext cx="2743200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98280" y="23317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F"/>
                </a:solidFill>
              </a:rPr>
              <a:t>io.emit("orderUpdated")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34640"/>
            <a:ext cx="5577840" cy="1097280"/>
          </a:xfrm>
          <a:prstGeom prst="rect">
            <a:avLst/>
          </a:prstGeom>
          <a:solidFill>
            <a:srgbClr val="1A1A2E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926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📊 Live Stats Bar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3375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1A1AA"/>
                </a:solidFill>
              </a:rPr>
              <a:t>Total / Pending / Preparing / Ready / Done — updates without refresh.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834640"/>
            <a:ext cx="5577840" cy="1097280"/>
          </a:xfrm>
          <a:prstGeom prst="rect">
            <a:avLst/>
          </a:prstGeom>
          <a:solidFill>
            <a:srgbClr val="1A1A2E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2926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🃏 Order Cards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375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1A1AA"/>
                </a:solidFill>
              </a:rPr>
              <a:t>Each order shows item list, total price, status badge, and action buttons.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069080"/>
            <a:ext cx="5577840" cy="1097280"/>
          </a:xfrm>
          <a:prstGeom prst="rect">
            <a:avLst/>
          </a:prstGeom>
          <a:solidFill>
            <a:srgbClr val="1A1A2E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160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⏳ Countdown Timer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720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1A1AA"/>
                </a:solidFill>
              </a:rPr>
              <a:t>1-second ticker (setInterval) shows remaining cancel window per card.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069080"/>
            <a:ext cx="5577840" cy="1097280"/>
          </a:xfrm>
          <a:prstGeom prst="rect">
            <a:avLst/>
          </a:prstGeom>
          <a:solidFill>
            <a:srgbClr val="1A1A2E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4160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🔒 Lock Badges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5720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1A1AA"/>
                </a:solidFill>
              </a:rPr>
              <a:t>Gold badge for Final Confirmed orders — chef knows to start immediately.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303520"/>
            <a:ext cx="5577840" cy="1097280"/>
          </a:xfrm>
          <a:prstGeom prst="rect">
            <a:avLst/>
          </a:prstGeom>
          <a:solidFill>
            <a:srgbClr val="1A1A2E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5394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🗑️ Bulk Delete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806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1A1AA"/>
                </a:solidFill>
              </a:rPr>
              <a:t>Super Admin can select and delete multiple orders at once.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5303520"/>
            <a:ext cx="5577840" cy="1097280"/>
          </a:xfrm>
          <a:prstGeom prst="rect">
            <a:avLst/>
          </a:prstGeom>
          <a:solidFill>
            <a:srgbClr val="1A1A2E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5394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👥 User Management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806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1A1AA"/>
                </a:solidFill>
              </a:rPr>
              <a:t>Super Admin promotes/demotes users between customer / staff / sub_admin.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309360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1A1AA"/>
                </a:solidFill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228600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 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Challenges Faced &amp;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0972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57784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5212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⚡ DNS Resolution 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39112"/>
            <a:ext cx="5212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1A1AA"/>
                </a:solidFill>
              </a:rPr>
              <a:t>❗ MongoDB Atlas SRV lookup failed on our ISP's DNS servers.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5212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✅ Added dns.setServers(['8.8.8.8','1.1.1.1']) + setDefaultResultOrder('ipv4first') at server start.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00200"/>
            <a:ext cx="557784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73352"/>
            <a:ext cx="5212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⚡ CORS on LAN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39112"/>
            <a:ext cx="5212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1A1AA"/>
                </a:solidFill>
              </a:rPr>
              <a:t>❗ Frontend accessed via 192.168.x.x:5174 was blocked by the backend's single-origin CORS.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5212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✅ Replaced fixed CORS origin with a regex function allowing all private IP ranges (192.168, 10.x, 172.16-31).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91840"/>
            <a:ext cx="557784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2"/>
            <a:ext cx="5212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⚡ ES Module Migration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30752"/>
            <a:ext cx="5212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1A1AA"/>
                </a:solidFill>
              </a:rPr>
              <a:t>❗ All require() calls across 800+ lines needed to be converted to ES module imports.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5212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✅ Systematically refactored server.js into routes/, middlewares/, utils/, db/ — all using import/export.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291840"/>
            <a:ext cx="557784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364992"/>
            <a:ext cx="5212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⚡ Urdu Voice Parsing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30752"/>
            <a:ext cx="5212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1A1AA"/>
                </a:solidFill>
              </a:rPr>
              <a:t>❗ Standard AI models didn't understand mixed-script Urdu/Roman Urdu food orders.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160520"/>
            <a:ext cx="5212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✅ Engineered a custom multilingual system prompt for Gemini with Urdu number mappings and script examples.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983480"/>
            <a:ext cx="1152144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05663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84FC"/>
                </a:solidFill>
              </a:rPr>
              <a:t>⚡ Order State Race Condition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2239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1A1AA"/>
                </a:solidFill>
              </a:rPr>
              <a:t>❗ Chef could start cooking before the cancel window ended; customer could cancel after chef started.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521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✅ Introduced locked boolean field — Final Confirm permanently disables cancel and signals chef immediately.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309360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1A1AA"/>
                </a:solidFill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228600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 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731520"/>
            <a:ext cx="9418320" cy="5394960"/>
          </a:xfrm>
          <a:prstGeom prst="rect">
            <a:avLst/>
          </a:prstGeom>
          <a:solidFill>
            <a:srgbClr val="1A1A2E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0" y="11887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97316"/>
                </a:solidFill>
              </a:rPr>
              <a:t>LIVE DEMONSTRATION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03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VoiceBite AI — Full System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29768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1A1AA"/>
                </a:solidFill>
              </a:rPr>
              <a:t>① Register with OTP  →  ② Browse Menu  →  ③ Voice Order (Urdu/English)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80060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1A1AA"/>
                </a:solidFill>
              </a:rPr>
              <a:t>④ Track Order  →  ⑤ Final Confirm  →  ⑥ Admin Dashboard  →  ⑦ Chef Updates 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1A1AA"/>
                </a:solidFill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228600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12 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Future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0972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3657600" cy="2103120"/>
          </a:xfrm>
          <a:prstGeom prst="rect">
            <a:avLst/>
          </a:prstGeom>
          <a:solidFill>
            <a:srgbClr val="1A1A2E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7647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Mobile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1A1AA"/>
                </a:solidFill>
              </a:rPr>
              <a:t>React Native version for iOS &amp; Android with push notifications for order updates.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600200"/>
            <a:ext cx="3657600" cy="2103120"/>
          </a:xfrm>
          <a:prstGeom prst="rect">
            <a:avLst/>
          </a:prstGeom>
          <a:solidFill>
            <a:srgbClr val="1A1A2E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1737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59" y="17647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Payment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1A1AA"/>
                </a:solidFill>
              </a:rPr>
              <a:t>Integrate Stripe / JazzCash for in-app payment — cash + card + online.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19" y="3931920"/>
            <a:ext cx="3657600" cy="2103120"/>
          </a:xfrm>
          <a:prstGeom prst="rect">
            <a:avLst/>
          </a:prstGeom>
          <a:solidFill>
            <a:srgbClr val="1A1A2E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199" y="40690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🏷️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9" y="4096511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Table QR Codes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9" y="45720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1A1AA"/>
                </a:solidFill>
              </a:rPr>
              <a:t>Scan QR at table → auto-linked order with table number sent to kitchen.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931920"/>
            <a:ext cx="3657600" cy="2103120"/>
          </a:xfrm>
          <a:prstGeom prst="rect">
            <a:avLst/>
          </a:prstGeom>
          <a:solidFill>
            <a:srgbClr val="1A1A2E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0690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4096511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Analytics Panel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720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1A1AA"/>
                </a:solidFill>
              </a:rPr>
              <a:t>Revenue charts, popular items heatmap, peak hour analysis for management.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79" y="6263640"/>
            <a:ext cx="3657600" cy="2103120"/>
          </a:xfrm>
          <a:prstGeom prst="rect">
            <a:avLst/>
          </a:prstGeom>
          <a:solidFill>
            <a:srgbClr val="1A1A2E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59" y="6400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59" y="6428231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Waiter Call Button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690372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1A1AA"/>
                </a:solidFill>
              </a:rPr>
              <a:t>Customer presses button on UI → waiter gets real-time socket notification.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19" y="6263640"/>
            <a:ext cx="3657600" cy="2103120"/>
          </a:xfrm>
          <a:prstGeom prst="rect">
            <a:avLst/>
          </a:prstGeom>
          <a:solidFill>
            <a:srgbClr val="1A1A2E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199" y="6400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99" y="6428231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Multi-Restaurant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199" y="690372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1A1AA"/>
                </a:solidFill>
              </a:rPr>
              <a:t>Multi-tenant support — one platform, multiple restaurant brands/branches.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309360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1A1AA"/>
                </a:solidFill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FFFFFF"/>
                </a:solidFill>
              </a:rPr>
              <a:t>🍽️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0972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14884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A1A1AA"/>
                </a:solidFill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834640"/>
            <a:ext cx="94183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0" y="3017520"/>
            <a:ext cx="9418320" cy="2926080"/>
          </a:xfrm>
          <a:prstGeom prst="rect">
            <a:avLst/>
          </a:prstGeom>
          <a:solidFill>
            <a:srgbClr val="1A1A2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68880" y="31546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🎙️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154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Multilingual AI Voice Ordering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15468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1A1AA"/>
                </a:solidFill>
              </a:rPr>
              <a:t>Urdu • Roman Urdu • English • Hinglish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66674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66674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Real-Time Kitchen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666744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1A1AA"/>
                </a:solidFill>
              </a:rPr>
              <a:t>Socket.io • Live order cards • 1-sec countdown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1788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17880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OTP Auth + Role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4178808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1A1AA"/>
                </a:solidFill>
              </a:rPr>
              <a:t>4 roles • JWT tokens • Super Admin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6908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☁️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6908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Cloudinary CDN Images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69087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1A1AA"/>
                </a:solidFill>
              </a:rPr>
              <a:t>9 menu items • 800×800 WebP • auto-optimised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2029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20293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Modular ES Module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5202936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1A1AA"/>
                </a:solidFill>
              </a:rPr>
              <a:t>routes/ middlewares/ models/ utils/ db/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20840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0" y="6702552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0A0F"/>
                </a:solidFill>
              </a:rPr>
              <a:t>VoiceBite AI  ·  Final Year Project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1682</Words>
  <Application>Microsoft Office PowerPoint</Application>
  <PresentationFormat>Custom</PresentationFormat>
  <Paragraphs>271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Daniyal Bhittani</cp:lastModifiedBy>
  <cp:revision>2</cp:revision>
  <dcterms:created xsi:type="dcterms:W3CDTF">2013-01-27T09:14:16Z</dcterms:created>
  <dcterms:modified xsi:type="dcterms:W3CDTF">2026-09-18T05:26:24Z</dcterms:modified>
  <cp:category/>
</cp:coreProperties>
</file>